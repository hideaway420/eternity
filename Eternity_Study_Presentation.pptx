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Listings found on Daraz Nepal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172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Straighteners</c:v>
                  </c:pt>
                  <c:pt idx="1">
                    <c:v>Hair dryers</c:v>
                  </c:pt>
                  <c:pt idx="2">
                    <c:v>Curlers &amp; crimpers</c:v>
                  </c:pt>
                  <c:pt idx="3">
                    <c:v>Blow-dry brushes</c:v>
                  </c:pt>
                  <c:pt idx="4">
                    <c:v>Barber chairs</c:v>
                  </c:pt>
                  <c:pt idx="5">
                    <c:v>Shampoo stations</c:v>
                  </c:pt>
                  <c:pt idx="6">
                    <c:v>Pro hydrafacial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</c:v>
                </c:pt>
                <c:pt idx="1">
                  <c:v>21</c:v>
                </c:pt>
                <c:pt idx="2">
                  <c:v>13</c:v>
                </c:pt>
                <c:pt idx="3">
                  <c:v>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A172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172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b"/>
        <c:majorGridlines>
          <c:spPr>
            <a:ln w="12700" cap="flat">
              <a:solidFill>
                <a:srgbClr val="EAE2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1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India list at peg (NPR)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Pro 2200 dryer</c:v>
                  </c:pt>
                  <c:pt idx="1">
                    <c:v>S3+ straightener</c:v>
                  </c:pt>
                  <c:pt idx="2">
                    <c:v>Pro Straight</c:v>
                  </c:pt>
                  <c:pt idx="3">
                    <c:v>Gleam 3.0</c:v>
                  </c:pt>
                  <c:pt idx="4">
                    <c:v>Titanium Shine 3.0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4888</c:v>
                </c:pt>
                <c:pt idx="1">
                  <c:v>5880</c:v>
                </c:pt>
                <c:pt idx="2">
                  <c:v>7280</c:v>
                </c:pt>
                <c:pt idx="3">
                  <c:v>9520</c:v>
                </c:pt>
                <c:pt idx="4">
                  <c:v>10080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Daraz Nepal price (NPR)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Pro 2200 dryer</c:v>
                  </c:pt>
                  <c:pt idx="1">
                    <c:v>S3+ straightener</c:v>
                  </c:pt>
                  <c:pt idx="2">
                    <c:v>Pro Straight</c:v>
                  </c:pt>
                  <c:pt idx="3">
                    <c:v>Gleam 3.0</c:v>
                  </c:pt>
                  <c:pt idx="4">
                    <c:v>Titanium Shine 3.0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7500</c:v>
                </c:pt>
                <c:pt idx="1">
                  <c:v>7690</c:v>
                </c:pt>
                <c:pt idx="2">
                  <c:v>9760</c:v>
                </c:pt>
                <c:pt idx="3">
                  <c:v>12580</c:v>
                </c:pt>
                <c:pt idx="4">
                  <c:v>12920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172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AE2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1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A172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Study based on the full Ikonic India catalogue (320 SKUs) matched against live Daraz Nepal listings.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insight: tools are the marketing channel, equipment is the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Company facts still to confirm are listed in the strategy document, section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afternoon visiting three salons beats a week of retail order handling.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comparison should drive where selling time is allocated.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are listings returned by keyword search, deduplicated.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corridor is measured, not assumed.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Multiply 568 by monthly volume to size the website business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community module is specified in the Antigravity build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objections this market actually raises, not generic persuasion tactics.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Weeks 1-2 cost almost nothing and de-risk everything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the gaps is what makes the rest of the numbers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reallocation of selling time toward the salon channel.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Eternity Products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66928" y="276148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CE2D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Nepal Market Study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3529584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profit actually is — and why it is not where the volume 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224528"/>
            <a:ext cx="1371600" cy="3200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44439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· Professional styling tools · Salon equipment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 ·  Kathmandu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finding reshapes everything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94960" cy="3657600"/>
          </a:xfrm>
          <a:prstGeom prst="roundRect">
            <a:avLst>
              <a:gd name="adj" fmla="val 2250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9632" y="1481328"/>
            <a:ext cx="5394960" cy="3657600"/>
          </a:xfrm>
          <a:prstGeom prst="roundRect">
            <a:avLst>
              <a:gd name="adj" fmla="val 2250"/>
            </a:avLst>
          </a:prstGeom>
          <a:solidFill>
            <a:srgbClr val="2C1A22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" y="204825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Styling tools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86968" y="261518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NPR 2,900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86968" y="32735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per unit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" y="367588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price visible on Daraz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25–30% margin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audience and trust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19672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D9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19672" y="204825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Salon equipment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19672" y="261518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C67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NPR 94,000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519672" y="32735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per chair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9672" y="367588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listings on Daraz Nepal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margin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the price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5358384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lines come from the same supplier. Ikonic makes the chairs as well as the straighteners.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Eternity sits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350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importer and distributor running two engines at once: social commerce to consumers, and direct trade supply to beauty parlours. Most competitors do one or the other.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3566160" cy="1517904"/>
          </a:xfrm>
          <a:prstGeom prst="roundRect">
            <a:avLst>
              <a:gd name="adj" fmla="val 5422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0848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Ikonic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24505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manufacturer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74320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furniture from one supplier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69664" y="248716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80560" y="1883664"/>
            <a:ext cx="3566160" cy="1517904"/>
          </a:xfrm>
          <a:prstGeom prst="roundRect">
            <a:avLst>
              <a:gd name="adj" fmla="val 5422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0848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Eternity Products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4505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D9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Importer + distributor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import at distributor pricing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83296" y="248716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94192" y="1883664"/>
            <a:ext cx="3566160" cy="1517904"/>
          </a:xfrm>
          <a:prstGeom prst="roundRect">
            <a:avLst>
              <a:gd name="adj" fmla="val 5422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68512" y="20848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markets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68512" y="24505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+ salons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68512" y="274320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COD retail · relationship-led trade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6210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the business already owns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6928" y="4023360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40050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supplier covers everything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42611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 1,554 brush to NPR 200,000 pedicure station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4023360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21424" y="40050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installed base of parlours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21424" y="42611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revenue, relationship already made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4809744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78992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import capability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78992" y="50474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the price rather than accept it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4809744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21424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knowledge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21424" y="50474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orderable from a catalogue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" y="566928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toward: own website → own brand → warehouse and distribution.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CUSTOMER PROFILE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Who to build the business around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35024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gross profit per relationship, not by headcount. The biggest segment by number is the least valuable per customer.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47088"/>
            <a:ext cx="11027664" cy="859536"/>
          </a:xfrm>
          <a:prstGeom prst="roundRect">
            <a:avLst>
              <a:gd name="adj" fmla="val 9574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48256"/>
            <a:ext cx="457200" cy="457200"/>
          </a:xfrm>
          <a:prstGeom prst="ellipse">
            <a:avLst/>
          </a:prstGeom>
          <a:solidFill>
            <a:srgbClr val="F0C674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26464" y="197510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Established salon owner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26464" y="2304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3–8 chairs, 2+ yrs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41648" y="2103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 6k/mo → 195k/chair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67728" y="2103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high, recurring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36608" y="2103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HERE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2816352"/>
            <a:ext cx="11027664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3D8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301752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26464" y="29443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New salon opening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26464" y="3273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just signed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41648" y="30723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 400k – 1.2M one event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67728" y="30723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per event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36608" y="30723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motion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3785616"/>
            <a:ext cx="11027664" cy="859536"/>
          </a:xfrm>
          <a:prstGeom prst="roundRect">
            <a:avLst>
              <a:gd name="adj" fmla="val 9574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3986784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26464" y="39136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Professional stylist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26464" y="4242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their own kit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41648" y="40416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 3k – 15k, repeat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67728" y="40416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now, high later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36608" y="40416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game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754880"/>
            <a:ext cx="11027664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3D8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" y="4956048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426464" y="488289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Retail consumer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426464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18–35, social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41648" y="50109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 2.7k – 14.2k, one-off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67728" y="50109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aggregate volume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436608" y="50109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channel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6928" y="581558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no to: price-only shoppers · low-value orders far outside the valley · phone-quote chair shoppers · resellers wanting trade price without trade volume.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F0C67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193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676656" y="3310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straighteners sold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76656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equal the gross profit of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76656" y="40050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six-chair salon fit-out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309360" y="1572768"/>
            <a:ext cx="5285232" cy="3474720"/>
          </a:xfrm>
          <a:prstGeom prst="roundRect">
            <a:avLst>
              <a:gd name="adj" fmla="val 2368"/>
            </a:avLst>
          </a:prstGeom>
          <a:solidFill>
            <a:srgbClr val="84455E"/>
          </a:solidFill>
          <a:ln w="12700">
            <a:solidFill>
              <a:srgbClr val="844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0" y="18288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arithmetic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0" y="2304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 chair, selling price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46920" y="2304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 195,000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7980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 cost from India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46920" y="27980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 97,574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and installation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4692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 3,500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37856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per chair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46920" y="37856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 93,926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42793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Six-chair fit-out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46920" y="42793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C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 563,556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579729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Ikonic India list price INR 84,000 · MRP INR 105,000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SEARCHED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Salon equipment has no Nepal competition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35024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Daraz Nepal searches for professional salon equipment return office chairs and sub-NPR-2,000 consumer gadgets. No barber chairs. No shampoo stations. No professional hydrafacial machines.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975104"/>
          <a:ext cx="6858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975104"/>
            <a:ext cx="3822192" cy="3566160"/>
          </a:xfrm>
          <a:prstGeom prst="roundRect">
            <a:avLst>
              <a:gd name="adj" fmla="val 2308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22128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that means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092440" y="2688336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595360" y="26700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 anchor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95360" y="2926080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for a customer to screenshot and compare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92440" y="3602736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0"/>
          <p:cNvSpPr/>
          <p:nvPr/>
        </p:nvSpPr>
        <p:spPr>
          <a:xfrm>
            <a:off x="809244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595360" y="35844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race to the bottom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595360" y="3840480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is not competed away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92440" y="4517136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Text 14"/>
          <p:cNvSpPr/>
          <p:nvPr/>
        </p:nvSpPr>
        <p:spPr>
          <a:xfrm>
            <a:off x="809244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595360" y="44988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the price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595360" y="4754880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is customer justification, not rivals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CORRIDOR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Nepal street price runs well above India list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35024"/>
            <a:ext cx="11027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across SKUs matched India-to-Daraz at the NPR/INR peg of 1.60. That spread absorbs freight, duty, VAT and clearing — what remains is margin.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956816"/>
          <a:ext cx="74980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1956816"/>
            <a:ext cx="3273552" cy="3035808"/>
          </a:xfrm>
          <a:prstGeom prst="roundRect">
            <a:avLst>
              <a:gd name="adj" fmla="val 2711"/>
            </a:avLst>
          </a:prstGeom>
          <a:solidFill>
            <a:srgbClr val="2C1A22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77072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C67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+17% to +53%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577072" y="28529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of the Nepal street price over India list at the peg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77072" y="3584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distributor discount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77072" y="3840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~25% off list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577072" y="42611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4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the stated 25–30% margin — worth confirming against real invoices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owning the checkout is worth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611880" cy="3383280"/>
          </a:xfrm>
          <a:prstGeom prst="roundRect">
            <a:avLst>
              <a:gd name="adj" fmla="val 2432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8470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 own site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59536" y="22311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D9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7860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C67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NPR 2,927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59536" y="3163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per unit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" y="3511296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margin retained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is yours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the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98848" y="1572768"/>
            <a:ext cx="3611880" cy="3383280"/>
          </a:xfrm>
          <a:prstGeom prst="roundRect">
            <a:avLst>
              <a:gd name="adj" fmla="val 2432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8470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17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Daraz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791456" y="22311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91456" y="257860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NPR 2,359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91456" y="3163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per unit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91456" y="3511296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~6% commission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1.25% payout fee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belongs to Daraz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30768" y="1572768"/>
            <a:ext cx="3163824" cy="3383280"/>
          </a:xfrm>
          <a:prstGeom prst="roundRect">
            <a:avLst>
              <a:gd name="adj" fmla="val 2601"/>
            </a:avLst>
          </a:prstGeom>
          <a:solidFill>
            <a:srgbClr val="2C1A22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24871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C67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NPR 568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68680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unit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0" y="352958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4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financial case for building your own website.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519379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on the Ikonic Gleam 3.0 at NPR 12,920 — the verified Daraz price.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UNDEREXPLOITED ASSET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salon community is the real moat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35024"/>
            <a:ext cx="11027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existing base of parlours already buys regularly. That is recurring revenue with the relationship already established — and most of it currently lives in a phone.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1280160" cy="1298448"/>
          </a:xfrm>
          <a:prstGeom prst="roundRect">
            <a:avLst>
              <a:gd name="adj" fmla="val 6429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157984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157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261518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79676" y="2011680"/>
            <a:ext cx="1280160" cy="1298448"/>
          </a:xfrm>
          <a:prstGeom prst="roundRect">
            <a:avLst>
              <a:gd name="adj" fmla="val 6429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6876" y="2157984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2436876" y="2157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34540" y="261518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92424" y="2011680"/>
            <a:ext cx="1280160" cy="1298448"/>
          </a:xfrm>
          <a:prstGeom prst="roundRect">
            <a:avLst>
              <a:gd name="adj" fmla="val 6429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9624" y="2157984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3849624" y="2157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47288" y="261518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5172" y="2011680"/>
            <a:ext cx="1280160" cy="1298448"/>
          </a:xfrm>
          <a:prstGeom prst="roundRect">
            <a:avLst>
              <a:gd name="adj" fmla="val 6429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62372" y="2157984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9" name="Text 17"/>
          <p:cNvSpPr/>
          <p:nvPr/>
        </p:nvSpPr>
        <p:spPr>
          <a:xfrm>
            <a:off x="5262372" y="2157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60036" y="261518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order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011680"/>
            <a:ext cx="1280160" cy="1298448"/>
          </a:xfrm>
          <a:prstGeom prst="roundRect">
            <a:avLst>
              <a:gd name="adj" fmla="val 6429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2157984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157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72784" y="261518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30668" y="2011680"/>
            <a:ext cx="1280160" cy="1298448"/>
          </a:xfrm>
          <a:prstGeom prst="roundRect">
            <a:avLst>
              <a:gd name="adj" fmla="val 6429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87868" y="2157984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7" name="Text 25"/>
          <p:cNvSpPr/>
          <p:nvPr/>
        </p:nvSpPr>
        <p:spPr>
          <a:xfrm>
            <a:off x="8087868" y="2157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85532" y="261518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43416" y="2011680"/>
            <a:ext cx="1280160" cy="1298448"/>
          </a:xfrm>
          <a:prstGeom prst="roundRect">
            <a:avLst>
              <a:gd name="adj" fmla="val 6429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0616" y="2157984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1" name="Text 29"/>
          <p:cNvSpPr/>
          <p:nvPr/>
        </p:nvSpPr>
        <p:spPr>
          <a:xfrm>
            <a:off x="9500616" y="2157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98280" y="261518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Fit-out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456164" y="2011680"/>
            <a:ext cx="1280160" cy="1298448"/>
          </a:xfrm>
          <a:prstGeom prst="roundRect">
            <a:avLst>
              <a:gd name="adj" fmla="val 6429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13364" y="2157984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5" name="Text 33"/>
          <p:cNvSpPr/>
          <p:nvPr/>
        </p:nvSpPr>
        <p:spPr>
          <a:xfrm>
            <a:off x="10913364" y="2157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511028" y="261518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87868" y="33467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0" y="3602736"/>
            <a:ext cx="7022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transition: a NPR 6,000 customer becomes a NPR 200,000 customer. It only happens on a site visit.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6928" y="4133088"/>
            <a:ext cx="347472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3D8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43342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Broadcast, not blast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04672" y="464515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Viber for the group. A named reorder nudge for one person. Mixing them mutes the list.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15968" y="4133088"/>
            <a:ext cx="347472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3D8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53712" y="43342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useful, one selling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553712" y="464515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stops working the moment it becomes only a sales channel.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065008" y="4133088"/>
            <a:ext cx="347472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3D8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02752" y="43342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the moat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302752" y="464515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salon that gets free technique training and first access does not switch over 5%.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PSYCHOLOGY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actually stops a Nepali buyer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94960" cy="1773936"/>
          </a:xfrm>
          <a:prstGeom prst="roundRect">
            <a:avLst>
              <a:gd name="adj" fmla="val 4639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755648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“Original ho ki copy?”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59536" y="2139696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ANXIETY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" y="2432304"/>
            <a:ext cx="4809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verification a feature: serial, warranty card and box seal on camera in every listing.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572768"/>
            <a:ext cx="5394960" cy="1773936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12700">
            <a:solidFill>
              <a:srgbClr val="E3D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1968" y="1755648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“Daraz ma sasto cha ni”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01968" y="2139696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ANCHORING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01968" y="2432304"/>
            <a:ext cx="4809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anchor. Win on warranty, local service and authenticity — ground a marketplace cannot follow.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547872"/>
            <a:ext cx="5394960" cy="1773936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12700">
            <a:solidFill>
              <a:srgbClr val="E3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3730752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“Yeti mahango chair kina?”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9536" y="4114800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ROI DOUBT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9536" y="4407408"/>
            <a:ext cx="4809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quote a chair price without the monthly earning beside it. Sell payback, not price.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547872"/>
            <a:ext cx="5394960" cy="1773936"/>
          </a:xfrm>
          <a:prstGeom prst="roundRect">
            <a:avLst>
              <a:gd name="adj" fmla="val 4639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3730752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“Kapal bigrincha ki”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01968" y="4114800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HEAT DAMAGE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01968" y="4407408"/>
            <a:ext cx="4809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correct settings by hair type. Education converts better than any discount here.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559612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barriers with full Nepali response scripts are on the Marketing Psychology sheet.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first 90 days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615184" cy="3931920"/>
          </a:xfrm>
          <a:prstGeom prst="roundRect">
            <a:avLst>
              <a:gd name="adj" fmla="val 3147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457200" cy="457200"/>
          </a:xfrm>
          <a:prstGeom prst="ellipse">
            <a:avLst/>
          </a:prstGeom>
          <a:solidFill>
            <a:srgbClr val="F0C67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Cost nothing, de-risk everything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364992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VAT registration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real supplier costs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parlour accounts + Viber opt-in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batch-shoot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9856" y="1572768"/>
            <a:ext cx="2615184" cy="3931920"/>
          </a:xfrm>
          <a:prstGeom prst="roundRect">
            <a:avLst>
              <a:gd name="adj" fmla="val 3147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75888" y="1810512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367588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75888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75888" y="26517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Set commercial foundations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75888" y="3364992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ladder vs verified anchors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SAFTA certificate as standing PO term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three salon site visits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72784" y="1572768"/>
            <a:ext cx="2615184" cy="3931920"/>
          </a:xfrm>
          <a:prstGeom prst="roundRect">
            <a:avLst>
              <a:gd name="adj" fmla="val 3147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28816" y="1810512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6528816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28816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28816" y="26517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 the owned channel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28816" y="3364992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and product pages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checkout + tracking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order queue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eSewa and Khalti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25712" y="1572768"/>
            <a:ext cx="2615184" cy="3931920"/>
          </a:xfrm>
          <a:prstGeom prst="roundRect">
            <a:avLst>
              <a:gd name="adj" fmla="val 3147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81744" y="1810512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4" name="Text 22"/>
          <p:cNvSpPr/>
          <p:nvPr/>
        </p:nvSpPr>
        <p:spPr>
          <a:xfrm>
            <a:off x="9381744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81744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81744" y="26517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Turn on the engine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81744" y="3364992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community portal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points on top 20 SKUs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after organic proof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 with real data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HONESTY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could not verify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35024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plainly rather than papered over. Each of these is a blank the business can fill in one step.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11027664" cy="658368"/>
          </a:xfrm>
          <a:prstGeom prst="roundRect">
            <a:avLst>
              <a:gd name="adj" fmla="val 12500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9385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Hair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84448" y="193852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catalogue, no Daraz listing under this brand name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05088" y="19385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Send the supplier price list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651760"/>
            <a:ext cx="11027664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70662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Qween lipstick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84448" y="27066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Daraz Nepal presence — genuinely a whitespace category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05088" y="27066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Send the supplier price list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419856"/>
            <a:ext cx="11027664" cy="658368"/>
          </a:xfrm>
          <a:prstGeom prst="roundRect">
            <a:avLst>
              <a:gd name="adj" fmla="val 12500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3474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7-in-1 hydrafacial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84448" y="3474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verified India price at professional grade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05088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Enter your real FOB figure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187952"/>
            <a:ext cx="11027664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8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42428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duty rates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84448" y="424281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HS line and changed by annual budget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05088" y="424281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Confirm with your clearing agent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4956048"/>
            <a:ext cx="11027664" cy="658368"/>
          </a:xfrm>
          <a:prstGeom prst="roundRect">
            <a:avLst>
              <a:gd name="adj" fmla="val 12500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50109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supplier cost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84448" y="50109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costs derived from stated margin bands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05088" y="50109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 column edit fixes the model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5797296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figure in this study was read from a live page or computed from one.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1901952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styling tools are not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business.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310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C67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They are the marketing channel for it.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4041648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build the audience, prove authenticity, and generate the salon relationships. The salon equipment is where the money is — and in Nepal it faces no marketplace price competition at all.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5138928"/>
            <a:ext cx="1371600" cy="3200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537667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Product Research Master · Growth &amp; Content Dashboard · Brand &amp; Launch Strategy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Eternity Products - Nepal Market Study</dc:title>
  <dc:subject>PptxGenJS Presentation</dc:subject>
  <dc:creator>Eternity Products</dc:creator>
  <cp:lastModifiedBy>Eternity Products</cp:lastModifiedBy>
  <cp:revision>1</cp:revision>
  <dcterms:created xsi:type="dcterms:W3CDTF">2026-08-09T00:31:05Z</dcterms:created>
  <dcterms:modified xsi:type="dcterms:W3CDTF">2026-08-09T00:31:05Z</dcterms:modified>
</cp:coreProperties>
</file>